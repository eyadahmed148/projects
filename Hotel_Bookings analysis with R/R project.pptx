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7" r:id="rId6"/>
    <p:sldId id="258" r:id="rId7"/>
    <p:sldId id="290" r:id="rId8"/>
    <p:sldId id="264" r:id="rId9"/>
    <p:sldId id="291" r:id="rId10"/>
    <p:sldId id="268" r:id="rId11"/>
    <p:sldId id="286" r:id="rId12"/>
    <p:sldId id="293" r:id="rId13"/>
    <p:sldId id="294" r:id="rId14"/>
    <p:sldId id="292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204" autoAdjust="0"/>
  </p:normalViewPr>
  <p:slideViewPr>
    <p:cSldViewPr snapToGrid="0">
      <p:cViewPr varScale="1">
        <p:scale>
          <a:sx n="104" d="100"/>
          <a:sy n="104" d="100"/>
        </p:scale>
        <p:origin x="870" y="102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7137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654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/>
              <a:t>Data analysis for hotels using R Language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38887" cy="26685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Data cleaning</a:t>
            </a:r>
          </a:p>
          <a:p>
            <a:r>
              <a:rPr lang="en-US" dirty="0"/>
              <a:t>Questions</a:t>
            </a:r>
          </a:p>
          <a:p>
            <a:r>
              <a:rPr lang="en-US" dirty="0"/>
              <a:t>Analyzing/visualization</a:t>
            </a:r>
          </a:p>
          <a:p>
            <a:r>
              <a:rPr lang="en-US" dirty="0"/>
              <a:t>Insights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F91369-0172-8FCC-1C84-247C285876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51927" y="572656"/>
            <a:ext cx="5255491" cy="471054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4751281-3767-59DA-039B-CF16CB9E4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674" y="1043711"/>
            <a:ext cx="7138884" cy="5652654"/>
          </a:xfrm>
        </p:spPr>
        <p:txBody>
          <a:bodyPr>
            <a:normAutofit/>
          </a:bodyPr>
          <a:lstStyle/>
          <a:p>
            <a:r>
              <a:rPr lang="en-US" dirty="0"/>
              <a:t>We have hotels dataset full of information and mystery. </a:t>
            </a:r>
            <a:r>
              <a:rPr lang="en-US" b="0" i="0" dirty="0">
                <a:solidFill>
                  <a:schemeClr val="bg1"/>
                </a:solidFill>
                <a:effectLst/>
                <a:latin typeface="Inter"/>
              </a:rPr>
              <a:t>When the best time of year to book a hotel room is? Or the optimal length of stay in order to get the best daily rate?</a:t>
            </a:r>
          </a:p>
          <a:p>
            <a:r>
              <a:rPr lang="en-US" b="0" i="0" dirty="0">
                <a:solidFill>
                  <a:schemeClr val="bg1"/>
                </a:solidFill>
                <a:effectLst/>
                <a:latin typeface="Inter"/>
              </a:rPr>
              <a:t>This hotel booking dataset can help you explore those questions!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2785" y="341086"/>
            <a:ext cx="6594768" cy="758042"/>
          </a:xfrm>
        </p:spPr>
        <p:txBody>
          <a:bodyPr>
            <a:normAutofit/>
          </a:bodyPr>
          <a:lstStyle/>
          <a:p>
            <a:r>
              <a:rPr lang="en-US" dirty="0"/>
              <a:t>Data Cleaning​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0327" y="1099128"/>
            <a:ext cx="7555346" cy="541778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Made a data frame that only has cancelled reservation.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Made a data frame that only has noncancelled reservation.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kern="1200" dirty="0">
                <a:solidFill>
                  <a:srgbClr val="F8F0E3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</a:rPr>
              <a:t>Made a data frame that has </a:t>
            </a:r>
            <a:r>
              <a:rPr lang="en-US" kern="1200" dirty="0" err="1">
                <a:solidFill>
                  <a:srgbClr val="F8F0E3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</a:rPr>
              <a:t>adr</a:t>
            </a:r>
            <a:r>
              <a:rPr lang="en-US" dirty="0" err="1">
                <a:solidFill>
                  <a:srgbClr val="F8F0E3"/>
                </a:solidFill>
                <a:latin typeface="Avenir Next LT Pro" panose="020B0504020202020204" pitchFamily="34" charset="0"/>
              </a:rPr>
              <a:t>_mean</a:t>
            </a:r>
            <a:endParaRPr lang="en-US" dirty="0"/>
          </a:p>
        </p:txBody>
      </p:sp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1DFE730E-30E7-DA99-A3EE-ACB889D161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983" y="397348"/>
            <a:ext cx="6589150" cy="683306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4983" y="1080654"/>
            <a:ext cx="7199744" cy="52741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What is the relation between </a:t>
            </a:r>
            <a:r>
              <a:rPr lang="en-US" sz="2400" b="1" dirty="0">
                <a:solidFill>
                  <a:srgbClr val="FFC000"/>
                </a:solidFill>
              </a:rPr>
              <a:t>waiting list days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FFC000"/>
                </a:solidFill>
              </a:rPr>
              <a:t>cancellation rate</a:t>
            </a:r>
            <a:r>
              <a:rPr lang="en-US" sz="2400" dirty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What hotel has the </a:t>
            </a:r>
            <a:r>
              <a:rPr lang="en-US" sz="2400" b="1" dirty="0">
                <a:solidFill>
                  <a:srgbClr val="FFC000"/>
                </a:solidFill>
              </a:rPr>
              <a:t>most reservations</a:t>
            </a:r>
            <a:r>
              <a:rPr lang="en-US" sz="2400" dirty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What is the relation between </a:t>
            </a:r>
            <a:r>
              <a:rPr lang="en-US" sz="2400" b="1" dirty="0">
                <a:solidFill>
                  <a:srgbClr val="FFC000"/>
                </a:solidFill>
              </a:rPr>
              <a:t>deposit type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FFC000"/>
                </a:solidFill>
              </a:rPr>
              <a:t>cancellation rate</a:t>
            </a:r>
            <a:r>
              <a:rPr lang="en-US" sz="2400" dirty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What is the </a:t>
            </a:r>
            <a:r>
              <a:rPr lang="en-US" sz="2400" b="1" dirty="0">
                <a:solidFill>
                  <a:srgbClr val="FFC000"/>
                </a:solidFill>
              </a:rPr>
              <a:t>most profitable month</a:t>
            </a:r>
            <a:r>
              <a:rPr lang="en-US" sz="2400" dirty="0"/>
              <a:t> of the year?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2785508"/>
          </a:xfrm>
        </p:spPr>
        <p:txBody>
          <a:bodyPr>
            <a:normAutofit/>
          </a:bodyPr>
          <a:lstStyle/>
          <a:p>
            <a:r>
              <a:rPr lang="en-US" dirty="0"/>
              <a:t>Analyzing and visualizing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355" y="286512"/>
            <a:ext cx="9389288" cy="1362456"/>
          </a:xfrm>
        </p:spPr>
        <p:txBody>
          <a:bodyPr anchor="t">
            <a:normAutofit/>
          </a:bodyPr>
          <a:lstStyle/>
          <a:p>
            <a:r>
              <a:rPr lang="en-US" sz="3700" dirty="0"/>
              <a:t>Bar chart </a:t>
            </a:r>
            <a:r>
              <a:rPr lang="en-US" sz="3700" dirty="0" err="1"/>
              <a:t>waiting_list_days</a:t>
            </a:r>
            <a:r>
              <a:rPr lang="en-US" sz="3700" dirty="0"/>
              <a:t>/</a:t>
            </a:r>
            <a:r>
              <a:rPr lang="en-US" sz="3700" dirty="0" err="1"/>
              <a:t>is_Cancelled</a:t>
            </a:r>
            <a:endParaRPr lang="en-US" sz="37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29" name="Content Placeholder 28">
            <a:extLst>
              <a:ext uri="{FF2B5EF4-FFF2-40B4-BE49-F238E27FC236}">
                <a16:creationId xmlns:a16="http://schemas.microsoft.com/office/drawing/2014/main" id="{18EC942E-2BA1-884B-0D59-AA43F56CA815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tretch>
            <a:fillRect/>
          </a:stretch>
        </p:blipFill>
        <p:spPr>
          <a:xfrm>
            <a:off x="5520142" y="3327401"/>
            <a:ext cx="5603153" cy="11669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7" name="Content Placeholder 26" descr="A graph of a graph showing a number of lines&#10;&#10;Description automatically generated with medium confidence">
            <a:extLst>
              <a:ext uri="{FF2B5EF4-FFF2-40B4-BE49-F238E27FC236}">
                <a16:creationId xmlns:a16="http://schemas.microsoft.com/office/drawing/2014/main" id="{26C13CBF-6B2A-1D71-4D35-A8300F84CA97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4"/>
          <a:stretch>
            <a:fillRect/>
          </a:stretch>
        </p:blipFill>
        <p:spPr>
          <a:xfrm>
            <a:off x="212436" y="2373745"/>
            <a:ext cx="5074150" cy="3805381"/>
          </a:xfrm>
        </p:spPr>
      </p:pic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7BCED6E-14F0-A8C5-7F68-4EDE80CE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731" y="258803"/>
            <a:ext cx="9389288" cy="1362456"/>
          </a:xfrm>
        </p:spPr>
        <p:txBody>
          <a:bodyPr>
            <a:normAutofit fontScale="90000"/>
          </a:bodyPr>
          <a:lstStyle/>
          <a:p>
            <a:r>
              <a:rPr lang="en-US" dirty="0"/>
              <a:t>Bar chart</a:t>
            </a:r>
            <a:br>
              <a:rPr lang="en-US" dirty="0"/>
            </a:br>
            <a:r>
              <a:rPr lang="en-US" dirty="0"/>
              <a:t>Hotel/number of reservations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4" name="Content Placeholder 3" descr="A graph of a bar graph">
            <a:extLst>
              <a:ext uri="{FF2B5EF4-FFF2-40B4-BE49-F238E27FC236}">
                <a16:creationId xmlns:a16="http://schemas.microsoft.com/office/drawing/2014/main" id="{F689A2FC-E57E-FAF5-338F-80C3F90505BC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3"/>
          <a:stretch>
            <a:fillRect/>
          </a:stretch>
        </p:blipFill>
        <p:spPr>
          <a:xfrm>
            <a:off x="771525" y="2364509"/>
            <a:ext cx="4514850" cy="3713017"/>
          </a:xfrm>
        </p:spPr>
      </p:pic>
      <p:pic>
        <p:nvPicPr>
          <p:cNvPr id="6" name="Content Placeholder 5" descr="A screen shot of a computer&#10;&#10;Description automatically generated">
            <a:extLst>
              <a:ext uri="{FF2B5EF4-FFF2-40B4-BE49-F238E27FC236}">
                <a16:creationId xmlns:a16="http://schemas.microsoft.com/office/drawing/2014/main" id="{F8D6A951-EE2D-BBA6-F202-79B2A5B6D0A1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4"/>
          <a:stretch>
            <a:fillRect/>
          </a:stretch>
        </p:blipFill>
        <p:spPr>
          <a:xfrm>
            <a:off x="5541819" y="3297382"/>
            <a:ext cx="5449454" cy="1625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7BCED6E-14F0-A8C5-7F68-4EDE80CE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258618"/>
            <a:ext cx="9389288" cy="1824459"/>
          </a:xfrm>
        </p:spPr>
        <p:txBody>
          <a:bodyPr>
            <a:normAutofit fontScale="90000"/>
          </a:bodyPr>
          <a:lstStyle/>
          <a:p>
            <a:r>
              <a:rPr lang="en-US" dirty="0"/>
              <a:t>Bar chart</a:t>
            </a:r>
            <a:br>
              <a:rPr lang="en-US" dirty="0"/>
            </a:br>
            <a:r>
              <a:rPr lang="en-US" dirty="0" err="1"/>
              <a:t>Deposit_type</a:t>
            </a:r>
            <a:r>
              <a:rPr lang="en-US" dirty="0"/>
              <a:t>/number of cancelations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9" name="Content Placeholder 8" descr="A graph of a number of squares&#10;&#10;Description automatically generated">
            <a:extLst>
              <a:ext uri="{FF2B5EF4-FFF2-40B4-BE49-F238E27FC236}">
                <a16:creationId xmlns:a16="http://schemas.microsoft.com/office/drawing/2014/main" id="{E5734CE7-AA18-214B-8CEC-5A3323FD2E41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3"/>
          <a:stretch>
            <a:fillRect/>
          </a:stretch>
        </p:blipFill>
        <p:spPr>
          <a:xfrm>
            <a:off x="526473" y="2258568"/>
            <a:ext cx="4759902" cy="4165323"/>
          </a:xfrm>
        </p:spPr>
      </p:pic>
      <p:pic>
        <p:nvPicPr>
          <p:cNvPr id="11" name="Content Placeholder 10" descr="A screen shot of a computer&#10;&#10;Description automatically generated">
            <a:extLst>
              <a:ext uri="{FF2B5EF4-FFF2-40B4-BE49-F238E27FC236}">
                <a16:creationId xmlns:a16="http://schemas.microsoft.com/office/drawing/2014/main" id="{91A5CF2F-D91E-55FA-8CD3-6C3EBA2C4453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4"/>
          <a:stretch>
            <a:fillRect/>
          </a:stretch>
        </p:blipFill>
        <p:spPr>
          <a:xfrm>
            <a:off x="5646738" y="3011055"/>
            <a:ext cx="5178280" cy="2133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7694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7BCED6E-14F0-A8C5-7F68-4EDE80CE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05" y="351167"/>
            <a:ext cx="9389288" cy="1362456"/>
          </a:xfrm>
        </p:spPr>
        <p:txBody>
          <a:bodyPr>
            <a:normAutofit fontScale="90000"/>
          </a:bodyPr>
          <a:lstStyle/>
          <a:p>
            <a:r>
              <a:rPr lang="en-US" dirty="0"/>
              <a:t>Bar chart</a:t>
            </a:r>
            <a:br>
              <a:rPr lang="en-US" dirty="0"/>
            </a:br>
            <a:r>
              <a:rPr lang="en-US" dirty="0"/>
              <a:t>month/</a:t>
            </a:r>
            <a:r>
              <a:rPr lang="en-US" dirty="0" err="1"/>
              <a:t>adr</a:t>
            </a:r>
            <a:r>
              <a:rPr lang="en-US" dirty="0"/>
              <a:t>(average daily rate)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9" name="Content Placeholder 8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A498EEB6-3E45-E721-6B0D-A3404F9E4517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3"/>
          <a:stretch>
            <a:fillRect/>
          </a:stretch>
        </p:blipFill>
        <p:spPr>
          <a:xfrm>
            <a:off x="611505" y="2258568"/>
            <a:ext cx="4893368" cy="4097782"/>
          </a:xfrm>
        </p:spPr>
      </p:pic>
      <p:pic>
        <p:nvPicPr>
          <p:cNvPr id="11" name="Content Placeholder 10" descr="A screen shot of a computer&#10;&#10;Description automatically generated">
            <a:extLst>
              <a:ext uri="{FF2B5EF4-FFF2-40B4-BE49-F238E27FC236}">
                <a16:creationId xmlns:a16="http://schemas.microsoft.com/office/drawing/2014/main" id="{F948A6CD-304E-7C99-AF24-84C0CE50939B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4"/>
          <a:stretch>
            <a:fillRect/>
          </a:stretch>
        </p:blipFill>
        <p:spPr>
          <a:xfrm>
            <a:off x="5646737" y="3149601"/>
            <a:ext cx="5095153" cy="18934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8121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75" y="275071"/>
            <a:ext cx="10668000" cy="627888"/>
          </a:xfrm>
        </p:spPr>
        <p:txBody>
          <a:bodyPr>
            <a:normAutofit fontScale="90000"/>
          </a:bodyPr>
          <a:lstStyle/>
          <a:p>
            <a:r>
              <a:rPr lang="en-US" dirty="0"/>
              <a:t>Insights​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C2C6DC-21FE-AD19-75E4-91496120F8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110" y="923637"/>
            <a:ext cx="11286836" cy="5643418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000" dirty="0"/>
              <a:t>As the waiting days </a:t>
            </a:r>
            <a:r>
              <a:rPr lang="en-US" sz="2000" b="1" dirty="0">
                <a:solidFill>
                  <a:srgbClr val="FF0000"/>
                </a:solidFill>
              </a:rPr>
              <a:t>increases</a:t>
            </a:r>
            <a:r>
              <a:rPr lang="en-US" sz="2000" dirty="0"/>
              <a:t> # of cancellation also </a:t>
            </a:r>
            <a:r>
              <a:rPr lang="en-US" sz="2000" b="1" dirty="0">
                <a:solidFill>
                  <a:srgbClr val="FF0000"/>
                </a:solidFill>
              </a:rPr>
              <a:t>increases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City Hotel </a:t>
            </a:r>
            <a:r>
              <a:rPr lang="en-US" sz="2000" dirty="0"/>
              <a:t>has the most reservations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No Deposit type </a:t>
            </a:r>
            <a:r>
              <a:rPr lang="en-US" sz="2000" dirty="0"/>
              <a:t>has the highest cancellation rate 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August</a:t>
            </a:r>
            <a:r>
              <a:rPr lang="en-US" sz="2000" dirty="0"/>
              <a:t> is the most profitable month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{8110E97F-062C-4D4A-BDA0-35724FB9CD8C}tf33968143_win32</Template>
  <TotalTime>38</TotalTime>
  <Words>236</Words>
  <Application>Microsoft Office PowerPoint</Application>
  <PresentationFormat>Widescreen</PresentationFormat>
  <Paragraphs>63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Avenir Next LT Pro</vt:lpstr>
      <vt:lpstr>Calibri</vt:lpstr>
      <vt:lpstr>Inter</vt:lpstr>
      <vt:lpstr>Custom</vt:lpstr>
      <vt:lpstr>Data analysis for hotels using R Language</vt:lpstr>
      <vt:lpstr>Agenda</vt:lpstr>
      <vt:lpstr>Introduction</vt:lpstr>
      <vt:lpstr>Data Cleaning​</vt:lpstr>
      <vt:lpstr>Questions</vt:lpstr>
      <vt:lpstr>Analyzing and visualizing</vt:lpstr>
      <vt:lpstr>Bar chart waiting_list_days/is_Cancelled</vt:lpstr>
      <vt:lpstr>Bar chart Hotel/number of reservations</vt:lpstr>
      <vt:lpstr>Bar chart Deposit_type/number of cancelations</vt:lpstr>
      <vt:lpstr>Bar chart month/adr(average daily rate)</vt:lpstr>
      <vt:lpstr>Insights​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اياد احمد عبدالغنى عبدالسلام</dc:creator>
  <cp:lastModifiedBy>اياد احمد عبدالغنى عبدالسلام</cp:lastModifiedBy>
  <cp:revision>1</cp:revision>
  <dcterms:created xsi:type="dcterms:W3CDTF">2024-09-16T15:39:56Z</dcterms:created>
  <dcterms:modified xsi:type="dcterms:W3CDTF">2024-09-16T16:18:12Z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